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Inter"/>
      <p:regular r:id="rId15"/>
      <p:bold r:id="rId16"/>
      <p:italic r:id="rId17"/>
      <p:boldItalic r:id="rId18"/>
    </p:embeddedFont>
    <p:embeddedFont>
      <p:font typeface="Inter ExtraBold"/>
      <p:bold r:id="rId19"/>
      <p:boldItalic r:id="rId20"/>
    </p:embeddedFont>
    <p:embeddedFont>
      <p:font typeface="Inter Medium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ExtraBold-boldItalic.fntdata"/><Relationship Id="rId11" Type="http://schemas.openxmlformats.org/officeDocument/2006/relationships/slide" Target="slides/slide6.xml"/><Relationship Id="rId22" Type="http://schemas.openxmlformats.org/officeDocument/2006/relationships/font" Target="fonts/InterMedium-bold.fntdata"/><Relationship Id="rId10" Type="http://schemas.openxmlformats.org/officeDocument/2006/relationships/slide" Target="slides/slide5.xml"/><Relationship Id="rId21" Type="http://schemas.openxmlformats.org/officeDocument/2006/relationships/font" Target="fonts/InterMedium-regular.fntdata"/><Relationship Id="rId13" Type="http://schemas.openxmlformats.org/officeDocument/2006/relationships/slide" Target="slides/slide8.xml"/><Relationship Id="rId24" Type="http://schemas.openxmlformats.org/officeDocument/2006/relationships/font" Target="fonts/InterMedium-boldItalic.fntdata"/><Relationship Id="rId12" Type="http://schemas.openxmlformats.org/officeDocument/2006/relationships/slide" Target="slides/slide7.xml"/><Relationship Id="rId23" Type="http://schemas.openxmlformats.org/officeDocument/2006/relationships/font" Target="fonts/InterMedium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font" Target="fonts/Inter-regular.fntdata"/><Relationship Id="rId14" Type="http://schemas.openxmlformats.org/officeDocument/2006/relationships/slide" Target="slides/slide9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ExtraBold-bold.fntdata"/><Relationship Id="rId6" Type="http://schemas.openxmlformats.org/officeDocument/2006/relationships/slide" Target="slides/slide1.xml"/><Relationship Id="rId18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e7cf68d7d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e7cf68d7d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e7cf68d7d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e7cf68d7d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e7cf68d7d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e7cf68d7d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e7cf68d7d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6e7cf68d7d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e7cf68d7d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e7cf68d7d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5e96b993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5e96b993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5e96b993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5e96b993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6e7cf68d7d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6e7cf68d7d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e7cf68d7d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6e7cf68d7d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(4 people)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2F1EE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8F60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 txBox="1"/>
          <p:nvPr>
            <p:ph idx="4294967295" type="ctrTitle"/>
          </p:nvPr>
        </p:nvSpPr>
        <p:spPr>
          <a:xfrm>
            <a:off x="64008" y="638300"/>
            <a:ext cx="8520600" cy="2135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AI-Powered Customer Support Workflow</a:t>
            </a:r>
            <a:endParaRPr sz="58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John Albert McDaniel IV</a:t>
            </a:r>
            <a:endParaRPr sz="6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83" name="Google Shape;8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8"/>
          <p:cNvSpPr txBox="1"/>
          <p:nvPr>
            <p:ph idx="4294967295" type="subTitle"/>
          </p:nvPr>
        </p:nvSpPr>
        <p:spPr>
          <a:xfrm>
            <a:off x="152400" y="4600950"/>
            <a:ext cx="86868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2A2A2A"/>
                </a:solidFill>
                <a:latin typeface="Inter Medium"/>
                <a:ea typeface="Inter Medium"/>
                <a:cs typeface="Inter Medium"/>
                <a:sym typeface="Inter Medium"/>
              </a:rPr>
              <a:t>AI Automation | Project 1 </a:t>
            </a:r>
            <a:endParaRPr sz="1200">
              <a:solidFill>
                <a:srgbClr val="2A2A2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9"/>
          <p:cNvSpPr txBox="1"/>
          <p:nvPr>
            <p:ph type="ctrTitle"/>
          </p:nvPr>
        </p:nvSpPr>
        <p:spPr>
          <a:xfrm>
            <a:off x="73325" y="153950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Introduction</a:t>
            </a:r>
            <a:endParaRPr sz="4000"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0" name="Google Shape;90;p29"/>
          <p:cNvSpPr txBox="1"/>
          <p:nvPr>
            <p:ph idx="1" type="subTitle"/>
          </p:nvPr>
        </p:nvSpPr>
        <p:spPr>
          <a:xfrm>
            <a:off x="257550" y="1219200"/>
            <a:ext cx="8520600" cy="405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Brief Overview of the Customer Support </a:t>
            </a:r>
            <a:r>
              <a:rPr lang="en" sz="1600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Process:</a:t>
            </a:r>
            <a:endParaRPr sz="1600"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• Customer submits inquiry via email, phone, web, or social media </a:t>
            </a:r>
            <a:endParaRPr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• CSR logs into CRM and ticket is assigned by supervisor based on issue type </a:t>
            </a:r>
            <a:endParaRPr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• CSR sends acknowledgment and begins investigation, researching the solution </a:t>
            </a:r>
            <a:endParaRPr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• If issue is complex, it's escalated to higher support tier </a:t>
            </a:r>
            <a:endParaRPr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• If CSR resolves the issue, customer receives feedback and completes satisfaction survey </a:t>
            </a:r>
            <a:endParaRPr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• Process ends after feedback is collected</a:t>
            </a:r>
            <a:endParaRPr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1" name="Google Shape;91;p29"/>
          <p:cNvSpPr txBox="1"/>
          <p:nvPr/>
        </p:nvSpPr>
        <p:spPr>
          <a:xfrm>
            <a:off x="152925" y="813000"/>
            <a:ext cx="437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John Albert McDaniel IV</a:t>
            </a:r>
            <a:endParaRPr sz="1800">
              <a:solidFill>
                <a:schemeClr val="dk1"/>
              </a:solidFill>
              <a:highlight>
                <a:srgbClr val="FF9900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0"/>
          <p:cNvSpPr txBox="1"/>
          <p:nvPr>
            <p:ph type="ctrTitle"/>
          </p:nvPr>
        </p:nvSpPr>
        <p:spPr>
          <a:xfrm>
            <a:off x="96875" y="424975"/>
            <a:ext cx="85206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Current Customer Support </a:t>
            </a:r>
            <a:r>
              <a:rPr lang="en" sz="35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Workflow</a:t>
            </a:r>
            <a:endParaRPr sz="35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7" name="Google Shape;97;p30"/>
          <p:cNvSpPr txBox="1"/>
          <p:nvPr/>
        </p:nvSpPr>
        <p:spPr>
          <a:xfrm>
            <a:off x="96875" y="1036325"/>
            <a:ext cx="8978400" cy="40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9900"/>
              </a:highlight>
            </a:endParaRPr>
          </a:p>
        </p:txBody>
      </p:sp>
      <p:pic>
        <p:nvPicPr>
          <p:cNvPr id="98" name="Google Shape;98;p30" title="Customer Service Workflow Chart Sprint 1.png"/>
          <p:cNvPicPr preferRelativeResize="0"/>
          <p:nvPr/>
        </p:nvPicPr>
        <p:blipFill rotWithShape="1">
          <a:blip r:embed="rId3">
            <a:alphaModFix/>
          </a:blip>
          <a:srcRect b="1895" l="0" r="0" t="1895"/>
          <a:stretch/>
        </p:blipFill>
        <p:spPr>
          <a:xfrm>
            <a:off x="90000" y="1571695"/>
            <a:ext cx="8978401" cy="2868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1"/>
          <p:cNvSpPr txBox="1"/>
          <p:nvPr>
            <p:ph type="ctrTitle"/>
          </p:nvPr>
        </p:nvSpPr>
        <p:spPr>
          <a:xfrm>
            <a:off x="96875" y="283725"/>
            <a:ext cx="8520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Three </a:t>
            </a:r>
            <a:r>
              <a:rPr lang="en" sz="22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Key Customer Support Problems Identified Based On 50 Customer Complaints</a:t>
            </a:r>
            <a:endParaRPr sz="28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" name="Google Shape;104;p31"/>
          <p:cNvSpPr/>
          <p:nvPr/>
        </p:nvSpPr>
        <p:spPr>
          <a:xfrm>
            <a:off x="228600" y="1225375"/>
            <a:ext cx="8686800" cy="3689400"/>
          </a:xfrm>
          <a:prstGeom prst="roundRect">
            <a:avLst>
              <a:gd fmla="val 563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AutoNum type="arabicPeriod"/>
            </a:pPr>
            <a:r>
              <a:rPr b="1" lang="en" sz="16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Long Wait Times</a:t>
            </a: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Customer Complaint #1:</a:t>
            </a: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“I waited on hold for over 30 minutes before speaking to a representative.”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AutoNum type="arabicPeriod"/>
            </a:pPr>
            <a:r>
              <a:rPr b="1" lang="en" sz="16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Ineffective Communication</a:t>
            </a:r>
            <a:endParaRPr b="1" sz="1600" u="sng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Customer Complaint #6:</a:t>
            </a: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“</a:t>
            </a:r>
            <a:r>
              <a:rPr lang="en" sz="1600">
                <a:solidFill>
                  <a:schemeClr val="dk1"/>
                </a:solidFill>
              </a:rPr>
              <a:t>The agent lacked knowledge about the product and couldn't answer my questions.”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AutoNum type="arabicPeriod"/>
            </a:pPr>
            <a:r>
              <a:rPr b="1" lang="en" sz="16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Automated System </a:t>
            </a:r>
            <a:r>
              <a:rPr b="1" lang="en" sz="16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Frustrations</a:t>
            </a:r>
            <a:endParaRPr b="1" sz="1600" u="sng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Customer Complaint #3:</a:t>
            </a: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“</a:t>
            </a:r>
            <a:r>
              <a:rPr lang="en">
                <a:solidFill>
                  <a:schemeClr val="dk1"/>
                </a:solidFill>
              </a:rPr>
              <a:t>The automated system is frustrating and makes it difficult to reach a human agent.”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2"/>
          <p:cNvSpPr txBox="1"/>
          <p:nvPr>
            <p:ph type="ctrTitle"/>
          </p:nvPr>
        </p:nvSpPr>
        <p:spPr>
          <a:xfrm>
            <a:off x="139800" y="371650"/>
            <a:ext cx="8864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“Chat GPT” integration for </a:t>
            </a:r>
            <a:r>
              <a:rPr lang="en" sz="3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Long Wait Times</a:t>
            </a:r>
            <a:endParaRPr sz="28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0" name="Google Shape;110;p32"/>
          <p:cNvSpPr/>
          <p:nvPr/>
        </p:nvSpPr>
        <p:spPr>
          <a:xfrm>
            <a:off x="228600" y="1375825"/>
            <a:ext cx="2722200" cy="3539100"/>
          </a:xfrm>
          <a:prstGeom prst="snip2DiagRect">
            <a:avLst>
              <a:gd fmla="val 0" name="adj1"/>
              <a:gd fmla="val 9217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27430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“Chat GPT” can handle initial customer inquiries that reduce workload on human agents.</a:t>
            </a:r>
            <a:endParaRPr sz="2000"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11" name="Google Shape;111;p32"/>
          <p:cNvSpPr/>
          <p:nvPr/>
        </p:nvSpPr>
        <p:spPr>
          <a:xfrm>
            <a:off x="3209550" y="1375825"/>
            <a:ext cx="2724900" cy="3539100"/>
          </a:xfrm>
          <a:prstGeom prst="roundRect">
            <a:avLst>
              <a:gd fmla="val 911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274300" lIns="182875" spcFirstLastPara="1" rIns="18287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Expected benefits and improvements of using </a:t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“Chat GPT”:</a:t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Reduction in customer wai</a:t>
            </a:r>
            <a:r>
              <a:rPr b="1" lang="en" sz="1000"/>
              <a:t>t </a:t>
            </a:r>
            <a:r>
              <a:rPr b="1" lang="en" sz="1000"/>
              <a:t>times</a:t>
            </a:r>
            <a:endParaRPr b="1" sz="1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24/7 customer access</a:t>
            </a:r>
            <a:endParaRPr b="1" sz="1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Instant handling of customer issues</a:t>
            </a:r>
            <a:endParaRPr b="1" sz="1000"/>
          </a:p>
        </p:txBody>
      </p:sp>
      <p:sp>
        <p:nvSpPr>
          <p:cNvPr id="112" name="Google Shape;112;p32"/>
          <p:cNvSpPr/>
          <p:nvPr/>
        </p:nvSpPr>
        <p:spPr>
          <a:xfrm>
            <a:off x="6193200" y="1375825"/>
            <a:ext cx="2724900" cy="3517800"/>
          </a:xfrm>
          <a:prstGeom prst="snip1Rect">
            <a:avLst>
              <a:gd fmla="val 96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274300" lIns="274300" spcFirstLastPara="1" rIns="2743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Potential risks or limitations of using </a:t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“Chat GPT”:</a:t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Lack of Human Interaction with customers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Customer data privacy issues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Inaccurate answers to customer questions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3"/>
          <p:cNvSpPr txBox="1"/>
          <p:nvPr>
            <p:ph type="ctrTitle"/>
          </p:nvPr>
        </p:nvSpPr>
        <p:spPr>
          <a:xfrm>
            <a:off x="96875" y="348775"/>
            <a:ext cx="85206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“Open AI API” integration</a:t>
            </a:r>
            <a:r>
              <a:rPr lang="en" sz="2400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 for Ineffective Communication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8" name="Google Shape;118;p33"/>
          <p:cNvSpPr/>
          <p:nvPr/>
        </p:nvSpPr>
        <p:spPr>
          <a:xfrm>
            <a:off x="274325" y="1375825"/>
            <a:ext cx="2722200" cy="3539100"/>
          </a:xfrm>
          <a:prstGeom prst="snip2DiagRect">
            <a:avLst>
              <a:gd fmla="val 0" name="adj1"/>
              <a:gd fmla="val 9217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“Open AI API” helps avoid customer misunderstandings and repetitive customer issues.</a:t>
            </a:r>
            <a:endParaRPr sz="1800"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19" name="Google Shape;119;p33"/>
          <p:cNvSpPr/>
          <p:nvPr/>
        </p:nvSpPr>
        <p:spPr>
          <a:xfrm>
            <a:off x="3209550" y="1375825"/>
            <a:ext cx="2724900" cy="3539100"/>
          </a:xfrm>
          <a:prstGeom prst="roundRect">
            <a:avLst>
              <a:gd fmla="val 911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274300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Expected benefits and improvements of using </a:t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“Open AI API”:</a:t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Improved understanding of customer issues</a:t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Efficient handling of customer data</a:t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Faster response times for customer issues</a:t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20" name="Google Shape;120;p33"/>
          <p:cNvSpPr/>
          <p:nvPr/>
        </p:nvSpPr>
        <p:spPr>
          <a:xfrm>
            <a:off x="6193200" y="1375825"/>
            <a:ext cx="2724900" cy="3517800"/>
          </a:xfrm>
          <a:prstGeom prst="snip1Rect">
            <a:avLst>
              <a:gd fmla="val 96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274300" lIns="274300" spcFirstLastPara="1" rIns="2743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Potential risks or limitations of using </a:t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“Open AI API”:</a:t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Lack of customer emotional empathy</a:t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Misinterpretation of customer issues</a:t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Lack of understanding customer context</a:t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4"/>
          <p:cNvSpPr txBox="1"/>
          <p:nvPr>
            <p:ph type="ctrTitle"/>
          </p:nvPr>
        </p:nvSpPr>
        <p:spPr>
          <a:xfrm>
            <a:off x="96875" y="348775"/>
            <a:ext cx="88212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“n8n” integration for </a:t>
            </a:r>
            <a:r>
              <a:rPr lang="en" sz="2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Automated System </a:t>
            </a:r>
            <a:r>
              <a:rPr lang="en" sz="2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Frustrations</a:t>
            </a:r>
            <a:endParaRPr sz="27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26" name="Google Shape;126;p34"/>
          <p:cNvSpPr/>
          <p:nvPr/>
        </p:nvSpPr>
        <p:spPr>
          <a:xfrm>
            <a:off x="228600" y="1375825"/>
            <a:ext cx="2722200" cy="3539100"/>
          </a:xfrm>
          <a:prstGeom prst="snip2DiagRect">
            <a:avLst>
              <a:gd fmla="val 0" name="adj1"/>
              <a:gd fmla="val 9217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27430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“n8n” makes sure that customers can transfer issues to live agents effectively without starting the conversation over </a:t>
            </a:r>
            <a:endParaRPr sz="1600"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27" name="Google Shape;127;p34"/>
          <p:cNvSpPr/>
          <p:nvPr/>
        </p:nvSpPr>
        <p:spPr>
          <a:xfrm>
            <a:off x="3209550" y="1375825"/>
            <a:ext cx="2724900" cy="3539100"/>
          </a:xfrm>
          <a:prstGeom prst="roundRect">
            <a:avLst>
              <a:gd fmla="val 911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274300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Expected benefits and improvements of using </a:t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“n8n”:</a:t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Immediate human customer support</a:t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Improved customer satisfaction</a:t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Better customer issue resolution</a:t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28" name="Google Shape;128;p34"/>
          <p:cNvSpPr/>
          <p:nvPr/>
        </p:nvSpPr>
        <p:spPr>
          <a:xfrm>
            <a:off x="6193200" y="1375825"/>
            <a:ext cx="2724900" cy="3517800"/>
          </a:xfrm>
          <a:prstGeom prst="snip1Rect">
            <a:avLst>
              <a:gd fmla="val 96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274300" lIns="274300" spcFirstLastPara="1" rIns="2743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Potential risks or limitations of using </a:t>
            </a:r>
            <a:endParaRPr b="1" sz="11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“n8n”:</a:t>
            </a:r>
            <a:endParaRPr b="1" sz="11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Handover tool failure can result in customer frustration or abandoned calls</a:t>
            </a:r>
            <a:endParaRPr b="1" sz="11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Delays can result in additional frustration if customers have to wait for a live agent</a:t>
            </a:r>
            <a:endParaRPr b="1" sz="11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Handover tools could increase the number of customer interactions agents receive</a:t>
            </a:r>
            <a:endParaRPr b="1" sz="11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5"/>
          <p:cNvSpPr txBox="1"/>
          <p:nvPr>
            <p:ph type="ctrTitle"/>
          </p:nvPr>
        </p:nvSpPr>
        <p:spPr>
          <a:xfrm>
            <a:off x="247175" y="83450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AI Enhanced Customer Support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34" name="Google Shape;134;p35"/>
          <p:cNvSpPr txBox="1"/>
          <p:nvPr/>
        </p:nvSpPr>
        <p:spPr>
          <a:xfrm>
            <a:off x="129550" y="883850"/>
            <a:ext cx="89229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9900"/>
              </a:highlight>
            </a:endParaRPr>
          </a:p>
        </p:txBody>
      </p:sp>
      <p:pic>
        <p:nvPicPr>
          <p:cNvPr id="135" name="Google Shape;135;p35" title="Updated Customer Service Workflow Chart Spri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75" y="1067975"/>
            <a:ext cx="8922900" cy="271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6"/>
          <p:cNvSpPr txBox="1"/>
          <p:nvPr>
            <p:ph type="ctrTitle"/>
          </p:nvPr>
        </p:nvSpPr>
        <p:spPr>
          <a:xfrm>
            <a:off x="89250" y="2968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Conclusion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42" name="Google Shape;142;p36"/>
          <p:cNvSpPr txBox="1"/>
          <p:nvPr>
            <p:ph idx="1" type="subTitle"/>
          </p:nvPr>
        </p:nvSpPr>
        <p:spPr>
          <a:xfrm>
            <a:off x="100350" y="952500"/>
            <a:ext cx="8943300" cy="430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Brief overview of the AI enhanced Customer Support Process:</a:t>
            </a:r>
            <a:endParaRPr b="1" sz="18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Main Flow:</a:t>
            </a:r>
            <a:endParaRPr b="1" sz="1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Customer inquiry enters via chat/API and gets triaged automatically using NLP classification</a:t>
            </a:r>
            <a:endParaRPr b="1" sz="1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If AI can resolve: automated solution is provided, confirmed via n8n, and checked through Perplexity for resolution</a:t>
            </a:r>
            <a:endParaRPr b="1" sz="1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If AI cannot resolve: ticket routes to appropriate human CSR queue via n8n</a:t>
            </a:r>
            <a:endParaRPr b="1" sz="1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Human Escalation Path:</a:t>
            </a:r>
            <a:endParaRPr b="1" sz="1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Human CSR investigates the issue, assisted by Perplexity for research</a:t>
            </a:r>
            <a:endParaRPr b="1" sz="1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Complex issues escalate to specialized human agents</a:t>
            </a:r>
            <a:endParaRPr b="1" sz="1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n8n recommends the best-fit human agent using templates</a:t>
            </a:r>
            <a:endParaRPr b="1" sz="1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Resolution &amp; Closure:</a:t>
            </a:r>
            <a:endParaRPr b="1" sz="1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Successful resolutions trigger customer feedback collection</a:t>
            </a:r>
            <a:endParaRPr b="1" sz="1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Automated satisfaction survey sent via Open AI API</a:t>
            </a:r>
            <a:endParaRPr b="1" sz="1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Process ends after feedback is captured</a:t>
            </a:r>
            <a:endParaRPr b="1" sz="1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Key Decision Points:</a:t>
            </a:r>
            <a:endParaRPr b="1" sz="1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Can AI resolve? (determines automation vs. human routing)</a:t>
            </a:r>
            <a:endParaRPr b="1" sz="1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Resolution check via Perplexity (validates if issue is solved)</a:t>
            </a:r>
            <a:endParaRPr b="1" sz="1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Complex issue? (determines if specialist escalation is needed)</a:t>
            </a:r>
            <a:endParaRPr b="1" sz="1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" name="Google Shape;143;p36"/>
          <p:cNvSpPr txBox="1"/>
          <p:nvPr/>
        </p:nvSpPr>
        <p:spPr>
          <a:xfrm>
            <a:off x="1931750" y="2033850"/>
            <a:ext cx="31500" cy="1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6"/>
          <p:cNvSpPr txBox="1"/>
          <p:nvPr/>
        </p:nvSpPr>
        <p:spPr>
          <a:xfrm>
            <a:off x="1931750" y="2033850"/>
            <a:ext cx="31500" cy="1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36"/>
          <p:cNvSpPr txBox="1"/>
          <p:nvPr/>
        </p:nvSpPr>
        <p:spPr>
          <a:xfrm>
            <a:off x="1931750" y="2033850"/>
            <a:ext cx="31500" cy="1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6"/>
          <p:cNvSpPr txBox="1"/>
          <p:nvPr/>
        </p:nvSpPr>
        <p:spPr>
          <a:xfrm>
            <a:off x="1931750" y="2033850"/>
            <a:ext cx="31500" cy="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6"/>
          <p:cNvSpPr txBox="1"/>
          <p:nvPr/>
        </p:nvSpPr>
        <p:spPr>
          <a:xfrm>
            <a:off x="1931750" y="2033850"/>
            <a:ext cx="31500" cy="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6"/>
          <p:cNvSpPr txBox="1"/>
          <p:nvPr/>
        </p:nvSpPr>
        <p:spPr>
          <a:xfrm>
            <a:off x="1931750" y="2033850"/>
            <a:ext cx="31500" cy="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6"/>
          <p:cNvSpPr txBox="1"/>
          <p:nvPr/>
        </p:nvSpPr>
        <p:spPr>
          <a:xfrm>
            <a:off x="1931750" y="2033850"/>
            <a:ext cx="31500" cy="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